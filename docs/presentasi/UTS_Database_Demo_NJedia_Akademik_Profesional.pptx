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Jumlah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Pending</c:v>
                </c:pt>
                <c:pt idx="1">
                  <c:v>Shipping</c:v>
                </c:pt>
                <c:pt idx="2">
                  <c:v>Rejected</c:v>
                </c:pt>
                <c:pt idx="3">
                  <c:v>Completed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526</c:v>
                </c:pt>
                <c:pt idx="1">
                  <c:v>513</c:v>
                </c:pt>
                <c:pt idx="2">
                  <c:v>509</c:v>
                </c:pt>
                <c:pt idx="3">
                  <c:v>487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B5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Cambria"/>
              </a:defRPr>
            </a:pPr>
            <a:r>
              <a:t>Presentasi Demo Project Database</a:t>
            </a:r>
          </a:p>
          <a:p>
            <a:pPr>
              <a:spcBef>
                <a:spcPts val="1000"/>
              </a:spcBef>
              <a:defRPr sz="2400">
                <a:solidFill>
                  <a:srgbClr val="D2E1F5"/>
                </a:solidFill>
                <a:latin typeface="Calibri"/>
              </a:defRPr>
            </a:pPr>
            <a:r>
              <a:t>Pemenuhan Kriteria UTS Prodi</a:t>
            </a:r>
          </a:p>
          <a:p>
            <a:pPr>
              <a:spcBef>
                <a:spcPts val="2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Project: NJedia</a:t>
            </a:r>
          </a:p>
          <a:p>
            <a:pPr>
              <a:defRPr sz="1600">
                <a:solidFill>
                  <a:srgbClr val="DCE6F5"/>
                </a:solidFill>
                <a:latin typeface="Calibri"/>
              </a:defRPr>
            </a:pPr>
            <a:r>
              <a:t>Nama Mahasiswa: ................................</a:t>
            </a:r>
          </a:p>
          <a:p>
            <a:pPr>
              <a:defRPr sz="1600">
                <a:solidFill>
                  <a:srgbClr val="DCE6F5"/>
                </a:solidFill>
                <a:latin typeface="Calibri"/>
              </a:defRPr>
            </a:pPr>
            <a:r>
              <a:t>Mata Kuliah: Database | Mei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A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2E52"/>
                </a:solidFill>
                <a:latin typeface="Cambria"/>
              </a:defRPr>
            </a:pPr>
            <a:r>
              <a:t>Latar Belakang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01384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57D"/>
                </a:solidFill>
                <a:latin typeface="Calibri"/>
              </a:defRPr>
            </a:pPr>
            <a:r>
              <a:t>Project: NJedia | Mata Kuliah: Database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01384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C757D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Calibri"/>
              </a:defRPr>
            </a:pPr>
            <a:r>
              <a:t>Project NJedia adalah sistem e-commerce berbasis database relasional (MySQL).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Calibri"/>
              </a:defRPr>
            </a:pPr>
            <a:r>
              <a:t>Fokus evaluasi UTS: pembuktian kuantitatif kualitas pengisian data.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Calibri"/>
              </a:defRPr>
            </a:pPr>
            <a:r>
              <a:t>Kriteria dosen: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Calibri"/>
              </a:defRPr>
            </a:pPr>
            <a:r>
              <a:t>- Data utama minimal 1000 baris per tabel inti.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Calibri"/>
              </a:defRPr>
            </a:pPr>
            <a:r>
              <a:t>- Data pendukung minimal 20 baris per tabel pendukung.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Calibri"/>
              </a:defRPr>
            </a:pPr>
            <a:r>
              <a:t>Demo dilakukan dengan query langsung di SQL client/phpMyAdmin.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A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2E52"/>
                </a:solidFill>
                <a:latin typeface="Cambria"/>
              </a:defRPr>
            </a:pPr>
            <a:r>
              <a:t>Tujuan dan Ruang Lingkup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01384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57D"/>
                </a:solidFill>
                <a:latin typeface="Calibri"/>
              </a:defRPr>
            </a:pPr>
            <a:r>
              <a:t>Project: NJedia | Mata Kuliah: Database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01384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C757D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  <a:latin typeface="Calibri"/>
              </a:defRPr>
            </a:pPr>
            <a:r>
              <a:t>Tujuan 1: Memastikan struktur tabel dan relasi mendukung proses bisnis.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  <a:latin typeface="Calibri"/>
              </a:defRPr>
            </a:pPr>
            <a:r>
              <a:t>Tujuan 2: Memastikan volume data memenuhi kriteria akademik.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  <a:latin typeface="Calibri"/>
              </a:defRPr>
            </a:pPr>
            <a:r>
              <a:t>Tujuan 3: Menunjukkan data dapat dianalisis melalui query SQL.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  <a:latin typeface="Calibri"/>
              </a:defRPr>
            </a:pPr>
            <a:r>
              <a:t>Ruang lingkup tabel utama: users, products, transaction_headers, transaction_details, reviews.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  <a:latin typeface="Calibri"/>
              </a:defRPr>
            </a:pPr>
            <a:r>
              <a:t>Ruang lingkup tabel pendukung: categories, promos, shipments, merchants, dan relasi promo.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A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2E52"/>
                </a:solidFill>
                <a:latin typeface="Cambria"/>
              </a:defRPr>
            </a:pPr>
            <a:r>
              <a:t>Gambaran Model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01384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57D"/>
                </a:solidFill>
                <a:latin typeface="Calibri"/>
              </a:defRPr>
            </a:pPr>
            <a:r>
              <a:t>Project: NJedia | Mata Kuliah: Database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01384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C757D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  <a:latin typeface="Calibri"/>
              </a:defRPr>
            </a:pPr>
            <a:r>
              <a:t>Entitas utama: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  <a:latin typeface="Calibri"/>
              </a:defRPr>
            </a:pPr>
            <a:r>
              <a:t>- users (akun pengguna)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  <a:latin typeface="Calibri"/>
              </a:defRPr>
            </a:pPr>
            <a:r>
              <a:t>- products dan product_variants (katalog)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  <a:latin typeface="Calibri"/>
              </a:defRPr>
            </a:pPr>
            <a:r>
              <a:t>- transaction_headers dan transaction_details (transaksi)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  <a:latin typeface="Calibri"/>
              </a:defRPr>
            </a:pPr>
            <a:r>
              <a:t>- reviews (umpan balik pengguna)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  <a:latin typeface="Calibri"/>
              </a:defRPr>
            </a:pPr>
            <a:r>
              <a:t>Entitas pendukung: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  <a:latin typeface="Calibri"/>
              </a:defRPr>
            </a:pPr>
            <a:r>
              <a:t>- product_categories, promos, shipments, merchants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  <a:latin typeface="Calibri"/>
              </a:defRPr>
            </a:pPr>
            <a:r>
              <a:t>Relasi kunci: transaction_details menghubungkan transaksi, produk/varian, dan pengiriman.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A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2E52"/>
                </a:solidFill>
                <a:latin typeface="Cambria"/>
              </a:defRPr>
            </a:pPr>
            <a:r>
              <a:t>Bukti Data Utama (Target &gt;= 1000)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1615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C757D"/>
                </a:solidFill>
                <a:latin typeface="Calibri"/>
              </a:defRPr>
            </a:pPr>
            <a:r>
              <a:t>Sumber: Query COUNT(*) pada database tolonjedia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01384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57D"/>
                </a:solidFill>
                <a:latin typeface="Calibri"/>
              </a:defRPr>
            </a:pPr>
            <a:r>
              <a:t>Project: NJedia | Mata Kuliah: Database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01384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C757D"/>
                </a:solidFill>
                <a:latin typeface="Calibri"/>
              </a:defRPr>
            </a:pPr>
            <a:r>
              <a:t>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645920"/>
          <a:ext cx="10972799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1828800"/>
                <a:gridCol w="2286000"/>
                <a:gridCol w="3108960"/>
              </a:tblGrid>
              <a:tr h="5943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Tabel</a:t>
                      </a:r>
                    </a:p>
                  </a:txBody>
                  <a:tcPr>
                    <a:solidFill>
                      <a:srgbClr val="2B5EA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 Data</a:t>
                      </a:r>
                    </a:p>
                  </a:txBody>
                  <a:tcPr>
                    <a:solidFill>
                      <a:srgbClr val="2B5EA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2B5EA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Keterangan</a:t>
                      </a:r>
                    </a:p>
                  </a:txBody>
                  <a:tcPr>
                    <a:solidFill>
                      <a:srgbClr val="2B5EA3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users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1249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&gt;= 1000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Memenuhi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products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1203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&gt;= 1000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Memenuhi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transaction_headers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1003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&gt;= 1000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Memenuhi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transaction_details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2035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&gt;= 1000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Memenuhi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reviews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1000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&gt;= 1000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Memenuhi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A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2E52"/>
                </a:solidFill>
                <a:latin typeface="Cambria"/>
              </a:defRPr>
            </a:pPr>
            <a:r>
              <a:t>Bukti Data Pendukung (Target &gt;= 20)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1615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C757D"/>
                </a:solidFill>
                <a:latin typeface="Calibri"/>
              </a:defRPr>
            </a:pPr>
            <a:r>
              <a:t>Sumber: Query COUNT(*) pada database tolonjedia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01384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57D"/>
                </a:solidFill>
                <a:latin typeface="Calibri"/>
              </a:defRPr>
            </a:pPr>
            <a:r>
              <a:t>Project: NJedia | Mata Kuliah: Database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01384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C757D"/>
                </a:solidFill>
                <a:latin typeface="Calibri"/>
              </a:defRPr>
            </a:pPr>
            <a:r>
              <a:t>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645920"/>
          <a:ext cx="10972799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1828800"/>
                <a:gridCol w="2286000"/>
                <a:gridCol w="3108960"/>
              </a:tblGrid>
              <a:tr h="555171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Tabel</a:t>
                      </a:r>
                    </a:p>
                  </a:txBody>
                  <a:tcPr>
                    <a:solidFill>
                      <a:srgbClr val="2B5EA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 Data</a:t>
                      </a:r>
                    </a:p>
                  </a:txBody>
                  <a:tcPr>
                    <a:solidFill>
                      <a:srgbClr val="2B5EA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2B5EA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Keterangan</a:t>
                      </a:r>
                    </a:p>
                  </a:txBody>
                  <a:tcPr>
                    <a:solidFill>
                      <a:srgbClr val="2B5EA3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product_categories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&gt;= 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Memenuhi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promos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&gt;= 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Memenuhi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shipments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&gt;= 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Memenuhi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merchants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&gt;= 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Memenuhi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product_promos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&gt;= 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Memenuhi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517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flash_sale_products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&gt;= 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Memenuhi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A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2E52"/>
                </a:solidFill>
                <a:latin typeface="Cambria"/>
              </a:defRPr>
            </a:pPr>
            <a:r>
              <a:t>Visualisasi Status Transaksi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01384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57D"/>
                </a:solidFill>
                <a:latin typeface="Calibri"/>
              </a:defRPr>
            </a:pPr>
            <a:r>
              <a:t>Project: NJedia | Mata Kuliah: Database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01384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C757D"/>
                </a:solidFill>
                <a:latin typeface="Calibri"/>
              </a:defRPr>
            </a:pPr>
            <a:r>
              <a:t>7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22960" y="1691640"/>
          <a:ext cx="7315200" cy="39776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366760" y="1828800"/>
            <a:ext cx="3108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12529"/>
                </a:solidFill>
                <a:latin typeface="Calibri"/>
              </a:defRPr>
            </a:pPr>
            <a:r>
              <a:t>Total transaksi detail: 2,035 baris.</a:t>
            </a:r>
          </a:p>
          <a:p>
            <a:pPr>
              <a:spcAft>
                <a:spcPts val="800"/>
              </a:spcAft>
              <a:defRPr sz="1400">
                <a:solidFill>
                  <a:srgbClr val="212529"/>
                </a:solidFill>
                <a:latin typeface="Calibri"/>
              </a:defRPr>
            </a:pPr>
            <a:r>
              <a:t>Distribusi status relatif seimbang sehingga data layak untuk analisis proses order.</a:t>
            </a:r>
          </a:p>
          <a:p>
            <a:pPr>
              <a:spcAft>
                <a:spcPts val="800"/>
              </a:spcAft>
              <a:defRPr sz="1400">
                <a:solidFill>
                  <a:srgbClr val="212529"/>
                </a:solidFill>
                <a:latin typeface="Calibri"/>
              </a:defRPr>
            </a:pPr>
            <a:r>
              <a:t>Status dominan: Pending (526), diikuti Shipping (513).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A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2E52"/>
                </a:solidFill>
                <a:latin typeface="Cambria"/>
              </a:defRPr>
            </a:pPr>
            <a:r>
              <a:t>Praktik Query SQL Saat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01384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57D"/>
                </a:solidFill>
                <a:latin typeface="Calibri"/>
              </a:defRPr>
            </a:pPr>
            <a:r>
              <a:t>Project: NJedia | Mata Kuliah: Database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01384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C757D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12529"/>
                </a:solidFill>
                <a:latin typeface="Consolas"/>
              </a:defRPr>
            </a:pPr>
            <a:r>
              <a:t>SELECT 'users' AS tabel, COUNT(*) AS total FROM users</a:t>
            </a:r>
          </a:p>
          <a:p>
            <a:pPr>
              <a:defRPr sz="1400">
                <a:solidFill>
                  <a:srgbClr val="212529"/>
                </a:solidFill>
                <a:latin typeface="Consolas"/>
              </a:defRPr>
            </a:pPr>
            <a:r>
              <a:t>UNION ALL SELECT 'products', COUNT(*) FROM products</a:t>
            </a:r>
          </a:p>
          <a:p>
            <a:pPr>
              <a:defRPr sz="1400">
                <a:solidFill>
                  <a:srgbClr val="212529"/>
                </a:solidFill>
                <a:latin typeface="Consolas"/>
              </a:defRPr>
            </a:pPr>
            <a:r>
              <a:t>UNION ALL SELECT 'transaction_headers', COUNT(*) FROM transaction_headers</a:t>
            </a:r>
          </a:p>
          <a:p>
            <a:pPr>
              <a:defRPr sz="1400">
                <a:solidFill>
                  <a:srgbClr val="212529"/>
                </a:solidFill>
                <a:latin typeface="Consolas"/>
              </a:defRPr>
            </a:pPr>
            <a:r>
              <a:t>UNION ALL SELECT 'transaction_details', COUNT(*) FROM transaction_details</a:t>
            </a:r>
          </a:p>
          <a:p>
            <a:pPr>
              <a:defRPr sz="1400">
                <a:solidFill>
                  <a:srgbClr val="212529"/>
                </a:solidFill>
                <a:latin typeface="Consolas"/>
              </a:defRPr>
            </a:pPr>
            <a:r>
              <a:t>UNION ALL SELECT 'reviews', COUNT(*) FROM reviews;</a:t>
            </a:r>
          </a:p>
          <a:p>
            <a:pPr>
              <a:defRPr sz="1400">
                <a:solidFill>
                  <a:srgbClr val="212529"/>
                </a:solidFill>
                <a:latin typeface="Consolas"/>
              </a:defRPr>
            </a:pPr>
          </a:p>
          <a:p>
            <a:pPr>
              <a:defRPr sz="1400">
                <a:solidFill>
                  <a:srgbClr val="212529"/>
                </a:solidFill>
                <a:latin typeface="Consolas"/>
              </a:defRPr>
            </a:pPr>
            <a:r>
              <a:t>SELECT status, COUNT(*) AS total FROM transaction_details</a:t>
            </a:r>
          </a:p>
          <a:p>
            <a:pPr>
              <a:defRPr sz="1400">
                <a:solidFill>
                  <a:srgbClr val="212529"/>
                </a:solidFill>
                <a:latin typeface="Consolas"/>
              </a:defRPr>
            </a:pPr>
            <a:r>
              <a:t>GROUP BY status ORDER BY total DESC;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035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12529"/>
                </a:solidFill>
                <a:latin typeface="Calibri"/>
              </a:defRPr>
            </a:pPr>
            <a:r>
              <a:t>Query dijalankan live untuk membuktikan hasil berasal dari database aktif.</a:t>
            </a:r>
          </a:p>
          <a:p>
            <a:pPr>
              <a:spcAft>
                <a:spcPts val="800"/>
              </a:spcAft>
              <a:defRPr sz="1500">
                <a:solidFill>
                  <a:srgbClr val="212529"/>
                </a:solidFill>
                <a:latin typeface="Calibri"/>
              </a:defRPr>
            </a:pPr>
            <a:r>
              <a:t>Tidak hanya menampilkan screenshot, tetapi eksekusi langsung di SQL client.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A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2E52"/>
                </a:solidFill>
                <a:latin typeface="Cambria"/>
              </a:defRPr>
            </a:pPr>
            <a:r>
              <a:t>Validasi Kualitas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01384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57D"/>
                </a:solidFill>
                <a:latin typeface="Calibri"/>
              </a:defRPr>
            </a:pPr>
            <a:r>
              <a:t>Project: NJedia | Mata Kuliah: Database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01384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C757D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  <a:latin typeface="Calibri"/>
              </a:defRPr>
            </a:pPr>
            <a:r>
              <a:t>Integritas referensial: relasi parent-child dipenuhi melalui foreign key.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  <a:latin typeface="Calibri"/>
              </a:defRPr>
            </a:pPr>
            <a:r>
              <a:t>Validasi kuantitas: seluruh tabel target melampaui ambang minimum.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  <a:latin typeface="Calibri"/>
              </a:defRPr>
            </a:pPr>
            <a:r>
              <a:t>Konsistensi nilai: status transaksi terstandarisasi (Pending/Shipping/Rejected/Completed).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  <a:latin typeface="Calibri"/>
              </a:defRPr>
            </a:pPr>
            <a:r>
              <a:t>Rata-rata total pembayaran per detail transaksi: 134,478.52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  <a:latin typeface="Calibri"/>
              </a:defRPr>
            </a:pPr>
            <a:r>
              <a:t>Nilai maksimum total pembayaran: 900,000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A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2E52"/>
                </a:solidFill>
                <a:latin typeface="Cambria"/>
              </a:defRPr>
            </a:pPr>
            <a:r>
              <a:t>Risiko Implementasi dan Mitigasi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01384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57D"/>
                </a:solidFill>
                <a:latin typeface="Calibri"/>
              </a:defRPr>
            </a:pPr>
            <a:r>
              <a:t>Project: NJedia | Mata Kuliah: Database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01384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C757D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  <a:latin typeface="Calibri"/>
              </a:defRPr>
            </a:pPr>
            <a:r>
              <a:t>Risiko 1: Kegagalan import karena urutan tabel -&gt; mitigasi: import parent sebelum child.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  <a:latin typeface="Calibri"/>
              </a:defRPr>
            </a:pPr>
            <a:r>
              <a:t>Risiko 2: Error format CSV -&gt; mitigasi: delimiter koma, UTF-8, dan mapping kolom eksplisit.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  <a:latin typeface="Calibri"/>
              </a:defRPr>
            </a:pPr>
            <a:r>
              <a:t>Risiko 3: Salah database aktif saat demo -&gt; mitigasi: verifikasi nama DB sebelum query.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  <a:latin typeface="Calibri"/>
              </a:defRPr>
            </a:pPr>
            <a:r>
              <a:t>Risiko 4: Waktu demo terbatas -&gt; mitigasi: siapkan script query validasi siap tempel.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A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2E52"/>
                </a:solidFill>
                <a:latin typeface="Cambria"/>
              </a:defRPr>
            </a:pPr>
            <a:r>
              <a:t>Kesimpulan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01384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57D"/>
                </a:solidFill>
                <a:latin typeface="Calibri"/>
              </a:defRPr>
            </a:pPr>
            <a:r>
              <a:t>Project: NJedia | Mata Kuliah: Database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01384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C757D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Calibri"/>
              </a:defRPr>
            </a:pPr>
            <a:r>
              <a:t>Syarat UTS database telah terpenuhi secara kuantitatif.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Calibri"/>
              </a:defRPr>
            </a:pPr>
            <a:r>
              <a:t>- Data utama: seluruh tabel inti &gt;= 1000.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Calibri"/>
              </a:defRPr>
            </a:pPr>
            <a:r>
              <a:t>- Data pendukung: seluruh tabel pendukung &gt;= 20.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Calibri"/>
              </a:defRPr>
            </a:pPr>
            <a:r>
              <a:t>Database siap untuk demonstrasi query, analisis ringkas, dan sesi tanya jawab.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Calibri"/>
              </a:defRPr>
            </a:pPr>
            <a:r>
              <a:t>Terima kasih.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A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2E52"/>
                </a:solidFill>
                <a:latin typeface="Cambria"/>
              </a:defRPr>
            </a:pPr>
            <a:r>
              <a:t>Tanya Jawab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1615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C757D"/>
                </a:solidFill>
                <a:latin typeface="Calibri"/>
              </a:defRPr>
            </a:pPr>
            <a:r>
              <a:t>Q&amp;A Session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01384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57D"/>
                </a:solidFill>
                <a:latin typeface="Calibri"/>
              </a:defRPr>
            </a:pPr>
            <a:r>
              <a:t>Project: NJedia | Mata Kuliah: Database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01384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C757D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94560"/>
            <a:ext cx="102412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1A2E52"/>
                </a:solidFill>
                <a:latin typeface="Calibri"/>
              </a:defRPr>
            </a:pPr>
            <a:r>
              <a:t>Silakan pertanyaan terkait desain skema, proses pengisian data,</a:t>
            </a:r>
            <a:br/>
            <a:r>
              <a:t>dan validasi hasil query.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